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d65571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d65571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5d655712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5d655712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5d655712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5d655712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5d6557122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5d6557122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5d655712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5d655712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5d6557122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5d6557122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5d6557122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5d6557122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5d6557122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5d655712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5d655712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5d655712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5d6557122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5d6557122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78a502c4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78a502c4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0be80c6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0be80c6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5d6557122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5d6557122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0b6d379d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0b6d379d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7bfc368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7bfc368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5d6557122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5d6557122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5d6557122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5d6557122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5d6557122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5d655712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ECE 540: Now in 3D!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75800" cy="13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Ian Wyse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Hunter Drake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Nelson Rodriguez-Ortiz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 Globisch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Project Overview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Peripherals Register Map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Keyboard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VGA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Hardware detailed description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Keyboard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VGA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Software detailed description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Raycasting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Mesh Rendering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Drivers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Conclusion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Project Demo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Future Work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45600" y="1112250"/>
            <a:ext cx="4019400" cy="3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Extending FPGA SoC applications to draw 3D objects with </a:t>
            </a:r>
            <a:r>
              <a:rPr lang="en">
                <a:solidFill>
                  <a:schemeClr val="dk2"/>
                </a:solidFill>
              </a:rPr>
              <a:t>distinctive</a:t>
            </a:r>
            <a:r>
              <a:rPr lang="en">
                <a:solidFill>
                  <a:schemeClr val="dk2"/>
                </a:solidFill>
              </a:rPr>
              <a:t> attributes into a 2.5D “exploration video game”-liked scene.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Similar to the 1990s Doom and Wolfenstein games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Components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FPGA Nexys A7 board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Keyboard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VGA Monitor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RVFpga EL2 ecosystem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Hardware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2.5D and 3D rendering graphics pipelines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Software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Raycasting 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Cube decomposition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925" y="1339850"/>
            <a:ext cx="4868076" cy="33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RVFpga Peripherals Register Map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Frame Buffer Index Register (Read Only)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Debug register that shows what BRAM buffer is currently </a:t>
            </a:r>
            <a:r>
              <a:rPr lang="en"/>
              <a:t>being</a:t>
            </a:r>
            <a:r>
              <a:rPr lang="en"/>
              <a:t> displayed on the VGA screen.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Column Drawing Register (Read and Write)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draw vertically-centered rectangles (walls) on the screen for a 2.5D environment.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Frame Calculation Done Register (Write Only)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tell the GPU that the frame is done being drawn and to switch BRAM buffers.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Status Register (Read Only)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</a:t>
            </a:r>
            <a:r>
              <a:rPr lang="en"/>
              <a:t>determine</a:t>
            </a:r>
            <a:r>
              <a:rPr lang="en"/>
              <a:t> the status of the GPU (FIFO full, empty, overflow, GPU busy)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Control Register (Read and Write)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control how the GPU does what it is doing.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Command Register (Write Only)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write triangle data to the GPU for processing.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Keyboard Register (Read Only)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determine if movement keys (WASD) are pressed.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Detailed Description: Keyboard 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Keyboard interface uses PS/2 - 8 bit scancode for each character.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bit (0), 8 data bits, parity bit, stop bit (1).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press -&gt; Key scancode, Key release -&gt; 0xF0 followed by scancode.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Shift register receives data from the keyboard.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full packet has been received, it is decoded.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it is W,A,S, or D set the bit in the WB output data for that key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it is 0x0F, read the next packet and clear the associated bit.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Detailed Description: VGA 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Components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Wishbone Bus Register Interface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Handles registers reads and writes requests from the core.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Asynchronous FIFO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Queues the incoming triangle commands from the program.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Write port in wb_clk_i domain, read port in gpu_clk domain.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2.5D Raycasting Renderer Pipeline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FSM that draws the 2.5D scene walls and implements texture mapping for colors.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3D Triangle Rasterization Pipeline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FSM that dequeue commands from async FIFO and performs triangle rasterization to draw 3D object.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BRAM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Stores the pixel data in a 320x240 frame buffer. Double buffered to prevent screen tearing. 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Write port in gpu_clk domain and read port in vga_clk domain.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VGA Controller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Similar to Project 2, but additionally it performs scaling on frame buffer from 320x240 to 640x480 for VGA display. Reads one pixel from the frame BRAM every vga_clk clock cycle.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Clock domains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</a:t>
            </a:r>
            <a:r>
              <a:rPr lang="en"/>
              <a:t>b_clk_i – 12.5MHz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</a:t>
            </a:r>
            <a:r>
              <a:rPr lang="en"/>
              <a:t>pu_clk – 100MHz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v</a:t>
            </a:r>
            <a:r>
              <a:rPr lang="en"/>
              <a:t>ga_clk – 25MHz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Detailed Description: VGA 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3104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67025" y="150975"/>
            <a:ext cx="88290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Detailed Description: Triangle Rasterization for 3D renderer </a:t>
            </a:r>
            <a:endParaRPr/>
          </a:p>
        </p:txBody>
      </p:sp>
      <p:sp>
        <p:nvSpPr>
          <p:cNvPr id="98" name="Google Shape;98;p20"/>
          <p:cNvSpPr/>
          <p:nvPr/>
        </p:nvSpPr>
        <p:spPr>
          <a:xfrm>
            <a:off x="870852" y="2895575"/>
            <a:ext cx="171300" cy="182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/>
          <p:nvPr/>
        </p:nvSpPr>
        <p:spPr>
          <a:xfrm>
            <a:off x="1953675" y="1444025"/>
            <a:ext cx="171300" cy="182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/>
          <p:nvPr/>
        </p:nvSpPr>
        <p:spPr>
          <a:xfrm>
            <a:off x="1953675" y="2895575"/>
            <a:ext cx="171300" cy="182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20"/>
          <p:cNvCxnSpPr>
            <a:stCxn id="98" idx="3"/>
            <a:endCxn id="99" idx="3"/>
          </p:cNvCxnSpPr>
          <p:nvPr/>
        </p:nvCxnSpPr>
        <p:spPr>
          <a:xfrm flipH="1" rot="10800000">
            <a:off x="895939" y="1599863"/>
            <a:ext cx="1082700" cy="14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20"/>
          <p:cNvCxnSpPr>
            <a:stCxn id="99" idx="4"/>
            <a:endCxn id="100" idx="0"/>
          </p:cNvCxnSpPr>
          <p:nvPr/>
        </p:nvCxnSpPr>
        <p:spPr>
          <a:xfrm>
            <a:off x="2039325" y="1626425"/>
            <a:ext cx="0" cy="126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20"/>
          <p:cNvCxnSpPr>
            <a:stCxn id="98" idx="6"/>
            <a:endCxn id="100" idx="2"/>
          </p:cNvCxnSpPr>
          <p:nvPr/>
        </p:nvCxnSpPr>
        <p:spPr>
          <a:xfrm>
            <a:off x="1042152" y="2986775"/>
            <a:ext cx="9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20"/>
          <p:cNvSpPr txBox="1"/>
          <p:nvPr/>
        </p:nvSpPr>
        <p:spPr>
          <a:xfrm>
            <a:off x="-104150" y="2530950"/>
            <a:ext cx="1146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v0(x0,y0)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1466175" y="1105150"/>
            <a:ext cx="1146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v1(x1,y1)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2039325" y="2530950"/>
            <a:ext cx="1146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v2(x2,y2)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1042150" y="2763575"/>
            <a:ext cx="275400" cy="223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1299600" y="2763575"/>
            <a:ext cx="275400" cy="223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1574994" y="2763575"/>
            <a:ext cx="275400" cy="223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3459200" y="2218200"/>
            <a:ext cx="855900" cy="38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 flipH="1">
            <a:off x="4588675" y="1723950"/>
            <a:ext cx="1034700" cy="1375500"/>
          </a:xfrm>
          <a:prstGeom prst="rtTriangl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5896950" y="2273825"/>
            <a:ext cx="855900" cy="38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 flipH="1">
            <a:off x="7309100" y="1723950"/>
            <a:ext cx="1034700" cy="1375500"/>
          </a:xfrm>
          <a:prstGeom prst="rtTriangl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 flipH="1" rot="10800000">
            <a:off x="7309100" y="1723950"/>
            <a:ext cx="1034700" cy="1375500"/>
          </a:xfrm>
          <a:prstGeom prst="rtTriangl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7149050" y="4043850"/>
            <a:ext cx="1176000" cy="1012200"/>
          </a:xfrm>
          <a:prstGeom prst="cube">
            <a:avLst>
              <a:gd fmla="val 25000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 rot="5400000">
            <a:off x="7309100" y="3357125"/>
            <a:ext cx="855900" cy="38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Triangle Commands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4 commands per triangle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Command 1: v0 coordinates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Command 2: v1 coordinates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Command 3: v2 coordinates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Command 4: Color and height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 cube needs 2 triangles per face and a cube has 6 faces, therefore, 12 triangles and 12*4 = 48 commands in total.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async FIFO was sized to the next power of 2 after 48, which is 64 entries.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Triangles are rasterized using edge functions (needs to be done per edge):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E01​(x,y)=(y−y0)(x1​−x0​)−(x−x0​)(y1​−y0​)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For a triangle, a point is inside if all three edge functions have the same sign.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To make implementation “friendly” for synthesizable hardware design, edge functions deltas (example: dx01 = x1-x0, dy01 = y1-y0) are pre-computed, multiplies are done in one pipe stage and increments to the next edge function across x and y are done in another pipe stage.</a:t>
            </a:r>
            <a:endParaRPr/>
          </a:p>
        </p:txBody>
      </p:sp>
      <p:sp>
        <p:nvSpPr>
          <p:cNvPr id="122" name="Google Shape;122;p21"/>
          <p:cNvSpPr txBox="1"/>
          <p:nvPr>
            <p:ph type="title"/>
          </p:nvPr>
        </p:nvSpPr>
        <p:spPr>
          <a:xfrm>
            <a:off x="267025" y="150975"/>
            <a:ext cx="88290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Detailed Description: Triangle Rasterization for 3D renderer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30303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FSM states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T_IDLE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Initial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T_SETUP0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Computes the maximum, minimum points and deltas for edge functions.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T_SETUP1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Computes the multiplications.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T_DRAW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Computes final edge functions for the current step.</a:t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000" y="1414276"/>
            <a:ext cx="5786474" cy="30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>
            <p:ph type="title"/>
          </p:nvPr>
        </p:nvSpPr>
        <p:spPr>
          <a:xfrm>
            <a:off x="267025" y="150975"/>
            <a:ext cx="88290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Detailed Description: Triangle Rasterization for 3D renderer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267025" y="150975"/>
            <a:ext cx="8829000" cy="7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Detailed Description: Raycasting</a:t>
            </a:r>
            <a:endParaRPr/>
          </a:p>
        </p:txBody>
      </p:sp>
      <p:sp>
        <p:nvSpPr>
          <p:cNvPr id="135" name="Google Shape;135;p23"/>
          <p:cNvSpPr/>
          <p:nvPr/>
        </p:nvSpPr>
        <p:spPr>
          <a:xfrm>
            <a:off x="700750" y="1247375"/>
            <a:ext cx="3665100" cy="347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700750" y="1251213"/>
            <a:ext cx="431100" cy="423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1139475" y="2514050"/>
            <a:ext cx="431100" cy="423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2102050" y="2279150"/>
            <a:ext cx="92400" cy="1002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23"/>
          <p:cNvCxnSpPr>
            <a:stCxn id="138" idx="2"/>
          </p:cNvCxnSpPr>
          <p:nvPr/>
        </p:nvCxnSpPr>
        <p:spPr>
          <a:xfrm flipH="1">
            <a:off x="700750" y="2329250"/>
            <a:ext cx="1401300" cy="192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3"/>
          <p:cNvCxnSpPr>
            <a:stCxn id="138" idx="2"/>
          </p:cNvCxnSpPr>
          <p:nvPr/>
        </p:nvCxnSpPr>
        <p:spPr>
          <a:xfrm flipH="1">
            <a:off x="1578550" y="2329250"/>
            <a:ext cx="5235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3"/>
          <p:cNvCxnSpPr/>
          <p:nvPr/>
        </p:nvCxnSpPr>
        <p:spPr>
          <a:xfrm flipH="1">
            <a:off x="1570575" y="2356250"/>
            <a:ext cx="492900" cy="15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3"/>
          <p:cNvCxnSpPr>
            <a:stCxn id="138" idx="2"/>
          </p:cNvCxnSpPr>
          <p:nvPr/>
        </p:nvCxnSpPr>
        <p:spPr>
          <a:xfrm flipH="1">
            <a:off x="708250" y="2329250"/>
            <a:ext cx="1393800" cy="11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3"/>
          <p:cNvCxnSpPr>
            <a:stCxn id="138" idx="2"/>
            <a:endCxn id="137" idx="0"/>
          </p:cNvCxnSpPr>
          <p:nvPr/>
        </p:nvCxnSpPr>
        <p:spPr>
          <a:xfrm flipH="1">
            <a:off x="1355050" y="2329250"/>
            <a:ext cx="747000" cy="1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3"/>
          <p:cNvCxnSpPr>
            <a:stCxn id="138" idx="2"/>
          </p:cNvCxnSpPr>
          <p:nvPr/>
        </p:nvCxnSpPr>
        <p:spPr>
          <a:xfrm rot="10800000">
            <a:off x="716050" y="2248250"/>
            <a:ext cx="1386000" cy="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3"/>
          <p:cNvCxnSpPr>
            <a:stCxn id="138" idx="2"/>
          </p:cNvCxnSpPr>
          <p:nvPr/>
        </p:nvCxnSpPr>
        <p:spPr>
          <a:xfrm rot="10800000">
            <a:off x="716050" y="2163650"/>
            <a:ext cx="1386000" cy="1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3"/>
          <p:cNvCxnSpPr>
            <a:stCxn id="138" idx="2"/>
          </p:cNvCxnSpPr>
          <p:nvPr/>
        </p:nvCxnSpPr>
        <p:spPr>
          <a:xfrm rot="10800000">
            <a:off x="716050" y="2071250"/>
            <a:ext cx="1386000" cy="2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3"/>
          <p:cNvCxnSpPr>
            <a:stCxn id="138" idx="2"/>
          </p:cNvCxnSpPr>
          <p:nvPr/>
        </p:nvCxnSpPr>
        <p:spPr>
          <a:xfrm rot="10800000">
            <a:off x="716050" y="1986650"/>
            <a:ext cx="1386000" cy="34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3"/>
          <p:cNvCxnSpPr>
            <a:stCxn id="138" idx="2"/>
          </p:cNvCxnSpPr>
          <p:nvPr/>
        </p:nvCxnSpPr>
        <p:spPr>
          <a:xfrm rot="10800000">
            <a:off x="700750" y="1801850"/>
            <a:ext cx="1401300" cy="52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3"/>
          <p:cNvCxnSpPr>
            <a:stCxn id="138" idx="2"/>
          </p:cNvCxnSpPr>
          <p:nvPr/>
        </p:nvCxnSpPr>
        <p:spPr>
          <a:xfrm rot="10800000">
            <a:off x="708250" y="1724750"/>
            <a:ext cx="1393800" cy="6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3"/>
          <p:cNvCxnSpPr>
            <a:stCxn id="138" idx="2"/>
          </p:cNvCxnSpPr>
          <p:nvPr/>
        </p:nvCxnSpPr>
        <p:spPr>
          <a:xfrm rot="10800000">
            <a:off x="839350" y="1670750"/>
            <a:ext cx="1262700" cy="6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3"/>
          <p:cNvCxnSpPr>
            <a:stCxn id="138" idx="2"/>
          </p:cNvCxnSpPr>
          <p:nvPr/>
        </p:nvCxnSpPr>
        <p:spPr>
          <a:xfrm flipH="1">
            <a:off x="1586050" y="2329250"/>
            <a:ext cx="516000" cy="34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3"/>
          <p:cNvSpPr txBox="1"/>
          <p:nvPr/>
        </p:nvSpPr>
        <p:spPr>
          <a:xfrm>
            <a:off x="4365850" y="1247375"/>
            <a:ext cx="4204200" cy="3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For every pixel column, a ray is cast forward at a specific angle, which travels forward until it hits a wall.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</a:t>
            </a:r>
            <a:r>
              <a:rPr lang="en" sz="1800">
                <a:solidFill>
                  <a:schemeClr val="dk2"/>
                </a:solidFill>
              </a:rPr>
              <a:t>length</a:t>
            </a:r>
            <a:r>
              <a:rPr lang="en" sz="1800">
                <a:solidFill>
                  <a:schemeClr val="dk2"/>
                </a:solidFill>
              </a:rPr>
              <a:t> of this ray determines the rendered height of the wall.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Fixed point methods are used instead of floating point in order to keep </a:t>
            </a:r>
            <a:r>
              <a:rPr lang="en" sz="1800">
                <a:solidFill>
                  <a:schemeClr val="dk2"/>
                </a:solidFill>
              </a:rPr>
              <a:t>frame rates</a:t>
            </a:r>
            <a:r>
              <a:rPr lang="en" sz="1800">
                <a:solidFill>
                  <a:schemeClr val="dk2"/>
                </a:solidFill>
              </a:rPr>
              <a:t> stable (functional).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2001675" y="1670975"/>
            <a:ext cx="431100" cy="423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23"/>
          <p:cNvCxnSpPr/>
          <p:nvPr/>
        </p:nvCxnSpPr>
        <p:spPr>
          <a:xfrm rot="10800000">
            <a:off x="708400" y="1894213"/>
            <a:ext cx="1401300" cy="44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3"/>
          <p:cNvCxnSpPr/>
          <p:nvPr/>
        </p:nvCxnSpPr>
        <p:spPr>
          <a:xfrm flipH="1">
            <a:off x="708375" y="2329250"/>
            <a:ext cx="13782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267025" y="150975"/>
            <a:ext cx="8829000" cy="7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Detailed Description: Raycasting</a:t>
            </a:r>
            <a:endParaRPr/>
          </a:p>
        </p:txBody>
      </p:sp>
      <p:sp>
        <p:nvSpPr>
          <p:cNvPr id="161" name="Google Shape;161;p24"/>
          <p:cNvSpPr txBox="1"/>
          <p:nvPr/>
        </p:nvSpPr>
        <p:spPr>
          <a:xfrm>
            <a:off x="4373475" y="1247375"/>
            <a:ext cx="4204200" cy="3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When ray enters a square, distance the ray will have to travel to hit an x or y gridline is computed.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Whichever is smaller, the ray jumps to that edge.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If the square hit is a wall, the raycasting process is complete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Otherwise it continues into the next square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Being able to jump from square to square greatly reduces the number of iterations/calculations required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Once a wall is found, the distance to it is calculated.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708375" y="1247375"/>
            <a:ext cx="3665100" cy="347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708375" y="1247375"/>
            <a:ext cx="431100" cy="423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708375" y="1670975"/>
            <a:ext cx="431100" cy="42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1139475" y="1670975"/>
            <a:ext cx="431100" cy="42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/>
          <p:nvPr/>
        </p:nvSpPr>
        <p:spPr>
          <a:xfrm>
            <a:off x="1139475" y="1247375"/>
            <a:ext cx="431100" cy="42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/>
          <p:nvPr/>
        </p:nvSpPr>
        <p:spPr>
          <a:xfrm>
            <a:off x="1570575" y="1247375"/>
            <a:ext cx="431100" cy="42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1570575" y="1670975"/>
            <a:ext cx="431100" cy="42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/>
          <p:nvPr/>
        </p:nvSpPr>
        <p:spPr>
          <a:xfrm>
            <a:off x="1570575" y="2094575"/>
            <a:ext cx="431100" cy="42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4"/>
          <p:cNvSpPr/>
          <p:nvPr/>
        </p:nvSpPr>
        <p:spPr>
          <a:xfrm>
            <a:off x="2001675" y="2094575"/>
            <a:ext cx="431100" cy="42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2001675" y="1670975"/>
            <a:ext cx="431100" cy="42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" name="Google Shape;172;p24"/>
          <p:cNvCxnSpPr>
            <a:stCxn id="173" idx="2"/>
          </p:cNvCxnSpPr>
          <p:nvPr/>
        </p:nvCxnSpPr>
        <p:spPr>
          <a:xfrm rot="10800000">
            <a:off x="862450" y="1670750"/>
            <a:ext cx="1239600" cy="6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4"/>
          <p:cNvCxnSpPr>
            <a:stCxn id="173" idx="2"/>
          </p:cNvCxnSpPr>
          <p:nvPr/>
        </p:nvCxnSpPr>
        <p:spPr>
          <a:xfrm flipH="1">
            <a:off x="700750" y="2329250"/>
            <a:ext cx="1401300" cy="192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24"/>
          <p:cNvSpPr/>
          <p:nvPr/>
        </p:nvSpPr>
        <p:spPr>
          <a:xfrm>
            <a:off x="2102050" y="2279150"/>
            <a:ext cx="92400" cy="1002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2001675" y="1670975"/>
            <a:ext cx="431100" cy="423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1139475" y="2518175"/>
            <a:ext cx="431100" cy="423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267025" y="1152475"/>
            <a:ext cx="78717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column is passed as a single wishbone data packet containing: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calculated column height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x-coordinate of the column within the wall the contains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pixel coordinate of the column on the screen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 FSM iterates over each pixel in the column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Calculate the texture array and frame buffer address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Access the texture array to determine the wall color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Write the result to the frame buffer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Column height is also written to the z-buffer for use in cube rendering.</a:t>
            </a:r>
            <a:endParaRPr/>
          </a:p>
        </p:txBody>
      </p:sp>
      <p:sp>
        <p:nvSpPr>
          <p:cNvPr id="182" name="Google Shape;182;p25"/>
          <p:cNvSpPr txBox="1"/>
          <p:nvPr>
            <p:ph type="title"/>
          </p:nvPr>
        </p:nvSpPr>
        <p:spPr>
          <a:xfrm>
            <a:off x="267025" y="150975"/>
            <a:ext cx="88290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Detailed Description: Raycasting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267025" y="1152475"/>
            <a:ext cx="78717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VGA module is quite similar to the one implemented in in project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cycle the current dgt pixel is used to access an element in the frame buffer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color retrieved from the frame buffer is sent to the monitor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outputs from the dtg module are delayed by two clock cycles to align with the timing of the frame buffer reads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frame buffer module implements two frame buffers to prevent screen tearing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GPU writes to one frame buffer and the VGA module reads from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the GPU finishes its frame it sets a flag to indicate that it is done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VGA initiates a swap when it finishes its current frame output</a:t>
            </a:r>
            <a:endParaRPr/>
          </a:p>
        </p:txBody>
      </p:sp>
      <p:sp>
        <p:nvSpPr>
          <p:cNvPr id="188" name="Google Shape;188;p26"/>
          <p:cNvSpPr txBox="1"/>
          <p:nvPr>
            <p:ph type="title"/>
          </p:nvPr>
        </p:nvSpPr>
        <p:spPr>
          <a:xfrm>
            <a:off x="267025" y="150975"/>
            <a:ext cx="88290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Detailed Description: VGA and Frame Buffer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267025" y="1152475"/>
            <a:ext cx="59370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Cubes are modeled as 8-vertex, 6-face meshes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Vertices are rotated and translated in fixed-point arithmetic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Vertices are then projected to screen space with perspective projection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Geometry off screen or too close to the player are removed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Visible faces are depth-sorted with a Painter’s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face is shaded with a simple </a:t>
            </a:r>
            <a:r>
              <a:rPr lang="en"/>
              <a:t>directional</a:t>
            </a:r>
            <a:r>
              <a:rPr lang="en"/>
              <a:t> lighting model and drawn as 2 triangles</a:t>
            </a:r>
            <a:endParaRPr/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267025" y="150975"/>
            <a:ext cx="88290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Detailed Description: Mesh Rendering</a:t>
            </a:r>
            <a:endParaRPr/>
          </a:p>
        </p:txBody>
      </p:sp>
      <p:pic>
        <p:nvPicPr>
          <p:cNvPr id="195" name="Google Shape;195;p27" title="outpu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200" y="1380975"/>
            <a:ext cx="2953825" cy="29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267025" y="1152475"/>
            <a:ext cx="85404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Perspective projection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</a:t>
            </a:r>
            <a:r>
              <a:rPr lang="en"/>
              <a:t>_screen = x_center + ( x * f / y 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</a:t>
            </a:r>
            <a:r>
              <a:rPr lang="en"/>
              <a:t>_screen = y_center - ( z * f / y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Rotation (2D example)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</a:t>
            </a:r>
            <a:r>
              <a:rPr lang="en"/>
              <a:t>` = x cosθ - y sinθ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</a:t>
            </a:r>
            <a:r>
              <a:rPr lang="en"/>
              <a:t>` = x sinθ + y cosθ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Face normal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</a:t>
            </a:r>
            <a:r>
              <a:rPr lang="en"/>
              <a:t> = ( v_1 - v_0 ) x ( v_2 - v_0 )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Lighting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</a:t>
            </a:r>
            <a:r>
              <a:rPr lang="en"/>
              <a:t>ight = n • l</a:t>
            </a:r>
            <a:endParaRPr/>
          </a:p>
        </p:txBody>
      </p:sp>
      <p:sp>
        <p:nvSpPr>
          <p:cNvPr id="201" name="Google Shape;201;p28"/>
          <p:cNvSpPr txBox="1"/>
          <p:nvPr>
            <p:ph type="title"/>
          </p:nvPr>
        </p:nvSpPr>
        <p:spPr>
          <a:xfrm>
            <a:off x="267025" y="150975"/>
            <a:ext cx="88290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Detailed Description: Mesh Rendering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311700" y="1152475"/>
            <a:ext cx="85206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Committed</a:t>
            </a:r>
            <a:r>
              <a:rPr lang="en"/>
              <a:t> goals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 2.5D environment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Single 3D object rendering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Stretch</a:t>
            </a:r>
            <a:r>
              <a:rPr lang="en"/>
              <a:t> goals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Integration of 3D objects into 2.5D environment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Texture mapping of the 2.5D scene walls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 lighting on the 3D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committed and stretch goals were met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Challenges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Timing convergence of hardware was a challenge and it required reinventing </a:t>
            </a:r>
            <a:r>
              <a:rPr lang="en"/>
              <a:t>existing</a:t>
            </a:r>
            <a:r>
              <a:rPr lang="en"/>
              <a:t> graphics pipeline methods into balanced pipeline stages (typically graphics pipeline are implemented with high parallelism using threads or SIMT).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Identifying if a visual bug is originating in hardware or software was not always obvious at times.</a:t>
            </a:r>
            <a:endParaRPr/>
          </a:p>
        </p:txBody>
      </p:sp>
      <p:sp>
        <p:nvSpPr>
          <p:cNvPr id="207" name="Google Shape;207;p29"/>
          <p:cNvSpPr txBox="1"/>
          <p:nvPr>
            <p:ph type="title"/>
          </p:nvPr>
        </p:nvSpPr>
        <p:spPr>
          <a:xfrm>
            <a:off x="267025" y="150975"/>
            <a:ext cx="88290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20"/>
              <a:t>Project Demo</a:t>
            </a:r>
            <a:endParaRPr sz="412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311700" y="1152475"/>
            <a:ext cx="85206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a number of improvements we can make to this project.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Floor, ceiling, and cube textures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Further improvements to FPS by optimizing program code.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3D sprite shapes (Pyramids, ect…)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Improvements to the top level gameplay (It is quite basic currently)</a:t>
            </a:r>
            <a:endParaRPr/>
          </a:p>
        </p:txBody>
      </p:sp>
      <p:sp>
        <p:nvSpPr>
          <p:cNvPr id="218" name="Google Shape;218;p31"/>
          <p:cNvSpPr txBox="1"/>
          <p:nvPr>
            <p:ph type="title"/>
          </p:nvPr>
        </p:nvSpPr>
        <p:spPr>
          <a:xfrm>
            <a:off x="267025" y="150975"/>
            <a:ext cx="88290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